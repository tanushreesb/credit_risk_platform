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78" r:id="rId4"/>
    <p:sldId id="291" r:id="rId5"/>
    <p:sldId id="258" r:id="rId6"/>
    <p:sldId id="270" r:id="rId7"/>
    <p:sldId id="271" r:id="rId8"/>
    <p:sldId id="261" r:id="rId9"/>
    <p:sldId id="292" r:id="rId10"/>
    <p:sldId id="259" r:id="rId11"/>
    <p:sldId id="293" r:id="rId12"/>
    <p:sldId id="262" r:id="rId13"/>
    <p:sldId id="294" r:id="rId14"/>
    <p:sldId id="295" r:id="rId15"/>
    <p:sldId id="296" r:id="rId16"/>
    <p:sldId id="264" r:id="rId17"/>
    <p:sldId id="260" r:id="rId18"/>
    <p:sldId id="299" r:id="rId19"/>
    <p:sldId id="297" r:id="rId20"/>
    <p:sldId id="279" r:id="rId21"/>
    <p:sldId id="268" r:id="rId22"/>
    <p:sldId id="280" r:id="rId23"/>
    <p:sldId id="285" r:id="rId24"/>
    <p:sldId id="289" r:id="rId25"/>
    <p:sldId id="287" r:id="rId26"/>
    <p:sldId id="281" r:id="rId27"/>
    <p:sldId id="282" r:id="rId28"/>
    <p:sldId id="283" r:id="rId29"/>
    <p:sldId id="290" r:id="rId30"/>
    <p:sldId id="265" r:id="rId31"/>
    <p:sldId id="298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964" autoAdjust="0"/>
    <p:restoredTop sz="94660"/>
  </p:normalViewPr>
  <p:slideViewPr>
    <p:cSldViewPr snapToGrid="0" snapToObjects="1">
      <p:cViewPr>
        <p:scale>
          <a:sx n="66" d="100"/>
          <a:sy n="66" d="100"/>
        </p:scale>
        <p:origin x="1420" y="1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70C91B-E40E-4943-B1D8-56BB91AD3738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94F651-5754-48AE-9005-4F2DA538F4C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795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94F651-5754-48AE-9005-4F2DA538F4C8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0366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AI Credit Risk Prediction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LightGBM-based Loan Default Risk Model | ML + Data Science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700" dirty="0"/>
              <a:t>Financial institutions face </a:t>
            </a:r>
            <a:r>
              <a:rPr lang="en-US" sz="2700" dirty="0">
                <a:solidFill>
                  <a:srgbClr val="FF0000"/>
                </a:solidFill>
              </a:rPr>
              <a:t>challenges</a:t>
            </a:r>
            <a:r>
              <a:rPr lang="en-US" sz="2700" dirty="0"/>
              <a:t> in accurately </a:t>
            </a:r>
            <a:r>
              <a:rPr lang="en-US" sz="2700" b="1" dirty="0"/>
              <a:t>identifying</a:t>
            </a:r>
            <a:r>
              <a:rPr lang="en-US" sz="2700" dirty="0"/>
              <a:t> </a:t>
            </a:r>
            <a:r>
              <a:rPr lang="en-US" sz="2700" dirty="0">
                <a:solidFill>
                  <a:srgbClr val="FF0000"/>
                </a:solidFill>
              </a:rPr>
              <a:t>high-risk loan applicants</a:t>
            </a:r>
            <a:r>
              <a:rPr lang="en-US" sz="2700" dirty="0"/>
              <a:t>. </a:t>
            </a:r>
          </a:p>
          <a:p>
            <a:pPr algn="just"/>
            <a:r>
              <a:rPr lang="en-US" sz="2700" dirty="0"/>
              <a:t>Lack of reliable prediction models leads to loan defaults and financial losses. </a:t>
            </a:r>
          </a:p>
          <a:p>
            <a:pPr algn="just"/>
            <a:r>
              <a:rPr lang="en-US" sz="2700" dirty="0"/>
              <a:t>Traditional assessment methods often fail to utilize full applicant data effectively. </a:t>
            </a:r>
          </a:p>
          <a:p>
            <a:pPr algn="just"/>
            <a:r>
              <a:rPr lang="en-US" sz="2700" dirty="0"/>
              <a:t>There is a need for a data-driven solution to predict the probability of loan default. </a:t>
            </a:r>
          </a:p>
          <a:p>
            <a:endParaRPr sz="2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36765-E82A-C0A6-9C4E-2E900079F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96917A-036D-1B55-F196-DA460A25F8D0}"/>
              </a:ext>
            </a:extLst>
          </p:cNvPr>
          <p:cNvSpPr txBox="1"/>
          <p:nvPr/>
        </p:nvSpPr>
        <p:spPr>
          <a:xfrm>
            <a:off x="557784" y="1572041"/>
            <a:ext cx="8129016" cy="38318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700" dirty="0"/>
              <a:t>Develop a machine learning model that analyzes applicant financial and demographic data to predict loan default risk and support better lending decisions.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2700" dirty="0"/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700" b="1" dirty="0"/>
              <a:t>Development Approach &amp; Solution Design</a:t>
            </a:r>
            <a:endParaRPr lang="en-US" sz="2700" dirty="0"/>
          </a:p>
          <a:p>
            <a:pPr marL="457200" indent="-457200" algn="just">
              <a:buFont typeface="Wingdings" panose="05000000000000000000" pitchFamily="2" charset="2"/>
              <a:buChar char="ü"/>
            </a:pPr>
            <a:r>
              <a:rPr lang="en-US" sz="2700" dirty="0"/>
              <a:t>Predict loan default risk using machine learning </a:t>
            </a:r>
          </a:p>
          <a:p>
            <a:pPr marL="457200" indent="-457200" algn="just">
              <a:buFont typeface="Wingdings" panose="05000000000000000000" pitchFamily="2" charset="2"/>
              <a:buChar char="ü"/>
            </a:pPr>
            <a:r>
              <a:rPr lang="en-US" sz="2700" dirty="0"/>
              <a:t>Enable business users to query credit data using natural language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2700" dirty="0"/>
          </a:p>
        </p:txBody>
      </p:sp>
    </p:spTree>
    <p:extLst>
      <p:ext uri="{BB962C8B-B14F-4D97-AF65-F5344CB8AC3E}">
        <p14:creationId xmlns:p14="http://schemas.microsoft.com/office/powerpoint/2010/main" val="191247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591CC-D43E-E70C-2C64-F2515FC42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Solution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569743-8F40-518D-634D-705FD70806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719072"/>
            <a:ext cx="8229600" cy="4525963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IN" b="1" dirty="0"/>
              <a:t>Proposed Solution:  </a:t>
            </a:r>
            <a:r>
              <a:rPr lang="en-IN" dirty="0"/>
              <a:t>The platform consists of:</a:t>
            </a:r>
          </a:p>
          <a:p>
            <a:r>
              <a:rPr lang="en-IN" dirty="0"/>
              <a:t>Credit Risk Prediction Engine </a:t>
            </a:r>
          </a:p>
          <a:p>
            <a:r>
              <a:rPr lang="en-IN" dirty="0"/>
              <a:t>Explainability Module </a:t>
            </a:r>
          </a:p>
          <a:p>
            <a:r>
              <a:rPr lang="en-IN" dirty="0"/>
              <a:t>Natural Language Query Interface </a:t>
            </a:r>
          </a:p>
          <a:p>
            <a:r>
              <a:rPr lang="en-IN" dirty="0"/>
              <a:t>REST APIs </a:t>
            </a:r>
          </a:p>
          <a:p>
            <a:r>
              <a:rPr lang="en-IN" dirty="0"/>
              <a:t>Interactive User Interface 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b="1" dirty="0"/>
              <a:t>Expected Outcome</a:t>
            </a:r>
          </a:p>
          <a:p>
            <a:r>
              <a:rPr lang="en-IN" dirty="0"/>
              <a:t>Automated risk assessment </a:t>
            </a:r>
          </a:p>
          <a:p>
            <a:r>
              <a:rPr lang="en-IN" dirty="0"/>
              <a:t>Faster decision-making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39478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dirty="0"/>
              <a:t>Home Credit Default Risk Dataset</a:t>
            </a:r>
          </a:p>
          <a:p>
            <a:r>
              <a:rPr dirty="0"/>
              <a:t>- application_train.csv</a:t>
            </a:r>
          </a:p>
          <a:p>
            <a:r>
              <a:rPr dirty="0"/>
              <a:t>- application_test.csv</a:t>
            </a:r>
          </a:p>
          <a:p>
            <a:r>
              <a:rPr dirty="0"/>
              <a:t>Target: TARGET (0/1)</a:t>
            </a:r>
            <a:endParaRPr lang="en-US" dirty="0"/>
          </a:p>
          <a:p>
            <a:endParaRPr lang="en-US" dirty="0"/>
          </a:p>
          <a:p>
            <a:r>
              <a:rPr lang="en-IN" b="1" dirty="0"/>
              <a:t>Phase 1 – Data Understanding</a:t>
            </a:r>
          </a:p>
          <a:p>
            <a:r>
              <a:rPr lang="en-IN" dirty="0" err="1"/>
              <a:t>Analyzed</a:t>
            </a:r>
            <a:r>
              <a:rPr lang="en-IN" dirty="0"/>
              <a:t> Home Credit dataset </a:t>
            </a:r>
          </a:p>
          <a:p>
            <a:r>
              <a:rPr lang="en-IN" dirty="0"/>
              <a:t>Identified target variable (TARGET) </a:t>
            </a:r>
          </a:p>
          <a:p>
            <a:r>
              <a:rPr lang="en-IN" dirty="0"/>
              <a:t>Explored customer demographics and financial attributes </a:t>
            </a:r>
          </a:p>
          <a:p>
            <a:r>
              <a:rPr lang="en-IN" dirty="0"/>
              <a:t>Performed data quality assessment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700" dirty="0"/>
              <a:t>Missing value handling</a:t>
            </a:r>
          </a:p>
          <a:p>
            <a:r>
              <a:rPr lang="en-US" sz="2700" dirty="0"/>
              <a:t> Duplicate removal </a:t>
            </a:r>
          </a:p>
          <a:p>
            <a:r>
              <a:rPr lang="en-US" sz="2700" dirty="0"/>
              <a:t>Feature selection </a:t>
            </a:r>
          </a:p>
          <a:p>
            <a:r>
              <a:rPr lang="en-US" sz="2700" dirty="0"/>
              <a:t>Categorical encoding</a:t>
            </a:r>
          </a:p>
          <a:p>
            <a:r>
              <a:rPr lang="en-US" sz="2700" dirty="0"/>
              <a:t> Data validation</a:t>
            </a:r>
          </a:p>
          <a:p>
            <a:endParaRPr lang="en-US" sz="2700" dirty="0"/>
          </a:p>
          <a:p>
            <a:r>
              <a:rPr lang="en-US" sz="2700" b="1" dirty="0"/>
              <a:t>Objective: </a:t>
            </a:r>
            <a:r>
              <a:rPr lang="en-US" sz="2700" dirty="0"/>
              <a:t>Prepare clean and consistent data for model training.</a:t>
            </a:r>
          </a:p>
          <a:p>
            <a:pPr marL="0" indent="0">
              <a:buNone/>
            </a:pPr>
            <a:endParaRPr sz="2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ü"/>
            </a:pPr>
            <a:r>
              <a:rPr lang="en-US" sz="2700" b="1" dirty="0"/>
              <a:t>Created Business-Relevant Features</a:t>
            </a:r>
          </a:p>
          <a:p>
            <a:r>
              <a:rPr lang="en-US" sz="2700" dirty="0"/>
              <a:t>Examples:</a:t>
            </a:r>
          </a:p>
          <a:p>
            <a:r>
              <a:rPr lang="en-US" sz="2700" dirty="0"/>
              <a:t>Income-to-Credit Ratio </a:t>
            </a:r>
          </a:p>
          <a:p>
            <a:r>
              <a:rPr lang="en-US" sz="2700" dirty="0"/>
              <a:t>Credit-to-Income Ratio </a:t>
            </a:r>
          </a:p>
          <a:p>
            <a:r>
              <a:rPr lang="en-US" sz="2700" dirty="0"/>
              <a:t>Employment Duration </a:t>
            </a:r>
          </a:p>
          <a:p>
            <a:r>
              <a:rPr lang="en-US" sz="2700" dirty="0"/>
              <a:t>Age-Based Features </a:t>
            </a:r>
          </a:p>
          <a:p>
            <a:pPr marL="0" indent="0">
              <a:buNone/>
            </a:pPr>
            <a:endParaRPr lang="en-US" sz="27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sz="2700" b="1" dirty="0"/>
              <a:t>Benefit</a:t>
            </a:r>
          </a:p>
          <a:p>
            <a:r>
              <a:rPr lang="en-US" sz="2700" dirty="0"/>
              <a:t>Improved predictive power of the model.</a:t>
            </a:r>
          </a:p>
          <a:p>
            <a:pPr marL="0" indent="0">
              <a:buNone/>
            </a:pPr>
            <a:endParaRPr sz="2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6038"/>
            <a:ext cx="8229600" cy="1143000"/>
          </a:xfrm>
        </p:spPr>
        <p:txBody>
          <a:bodyPr/>
          <a:lstStyle/>
          <a:p>
            <a:r>
              <a:rPr dirty="0"/>
              <a:t>Model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35024"/>
            <a:ext cx="8394192" cy="4983162"/>
          </a:xfrm>
        </p:spPr>
        <p:txBody>
          <a:bodyPr>
            <a:noAutofit/>
          </a:bodyPr>
          <a:lstStyle/>
          <a:p>
            <a:pPr algn="just">
              <a:buFont typeface="Wingdings" panose="05000000000000000000" pitchFamily="2" charset="2"/>
              <a:buChar char="ü"/>
            </a:pPr>
            <a:r>
              <a:rPr sz="2700" b="1" dirty="0" err="1"/>
              <a:t>LightGBM</a:t>
            </a:r>
            <a:r>
              <a:rPr sz="2700" b="1" dirty="0"/>
              <a:t> Classifier (Gradient Boosting Decision Trees)</a:t>
            </a:r>
            <a:endParaRPr lang="en-US" sz="2700" b="1" dirty="0"/>
          </a:p>
          <a:p>
            <a:r>
              <a:rPr lang="en-IN" sz="2700" dirty="0"/>
              <a:t>High performance on tabular datasets </a:t>
            </a:r>
          </a:p>
          <a:p>
            <a:r>
              <a:rPr lang="en-IN" sz="2700" dirty="0"/>
              <a:t>Handles missing values efficiently </a:t>
            </a:r>
          </a:p>
          <a:p>
            <a:r>
              <a:rPr lang="en-IN" sz="2700" dirty="0"/>
              <a:t>Fast training and inference </a:t>
            </a:r>
          </a:p>
          <a:p>
            <a:r>
              <a:rPr lang="en-IN" sz="2700" dirty="0"/>
              <a:t>Suitable for large-scale financial datasets </a:t>
            </a:r>
          </a:p>
          <a:p>
            <a:pPr marL="0" indent="0">
              <a:buNone/>
            </a:pPr>
            <a:endParaRPr lang="en-IN" sz="2700" dirty="0"/>
          </a:p>
          <a:p>
            <a:pPr>
              <a:buFont typeface="Wingdings" panose="05000000000000000000" pitchFamily="2" charset="2"/>
              <a:buChar char="ü"/>
            </a:pPr>
            <a:r>
              <a:rPr lang="en-IN" sz="2700" b="1" dirty="0"/>
              <a:t>Training Process</a:t>
            </a:r>
          </a:p>
          <a:p>
            <a:r>
              <a:rPr lang="en-IN" sz="2700" dirty="0"/>
              <a:t>Train-Test Split </a:t>
            </a:r>
          </a:p>
          <a:p>
            <a:r>
              <a:rPr lang="en-IN" sz="2700" dirty="0"/>
              <a:t>Hyperparameter Tuning </a:t>
            </a:r>
          </a:p>
          <a:p>
            <a:r>
              <a:rPr lang="en-IN" sz="2700" dirty="0"/>
              <a:t>Cross Validation</a:t>
            </a:r>
          </a:p>
          <a:p>
            <a:endParaRPr sz="2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B51D-90A3-9FBB-1511-4070B3508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Overview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A78D4-A75C-A38D-35ED-001A86F9D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572768"/>
            <a:ext cx="8321040" cy="491947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2700" b="1" dirty="0"/>
              <a:t>Risk Prediction Model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700" dirty="0" err="1"/>
              <a:t>LightGBM</a:t>
            </a:r>
            <a:r>
              <a:rPr lang="en-IN" sz="2700" dirty="0"/>
              <a:t>-based machine learning model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700" dirty="0"/>
              <a:t>Predicts portfolio risk scores </a:t>
            </a:r>
          </a:p>
          <a:p>
            <a:pPr marL="0" indent="0">
              <a:buNone/>
            </a:pPr>
            <a:r>
              <a:rPr lang="en-IN" sz="2700" b="1" dirty="0"/>
              <a:t>Explainability Layer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700" dirty="0"/>
              <a:t>SHAP-based feature importance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700" dirty="0"/>
              <a:t>Identifies key risk drivers </a:t>
            </a:r>
          </a:p>
          <a:p>
            <a:pPr marL="0" indent="0">
              <a:buNone/>
            </a:pPr>
            <a:r>
              <a:rPr lang="en-IN" sz="2700" b="1" dirty="0"/>
              <a:t>Data Intelligence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700" dirty="0"/>
              <a:t>Natural Language → SQL queries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700" dirty="0"/>
              <a:t>Enables conversational analytics</a:t>
            </a:r>
          </a:p>
          <a:p>
            <a:endParaRPr lang="en-IN" sz="2700" dirty="0"/>
          </a:p>
        </p:txBody>
      </p:sp>
    </p:spTree>
    <p:extLst>
      <p:ext uri="{BB962C8B-B14F-4D97-AF65-F5344CB8AC3E}">
        <p14:creationId xmlns:p14="http://schemas.microsoft.com/office/powerpoint/2010/main" val="7746265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3232" y="1417638"/>
            <a:ext cx="8113134" cy="523341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sz="3600" b="1" dirty="0"/>
              <a:t>Backend                                   Deployment</a:t>
            </a:r>
          </a:p>
          <a:p>
            <a:r>
              <a:rPr lang="en-IN" sz="3600" dirty="0"/>
              <a:t>Python 								Docker</a:t>
            </a:r>
          </a:p>
          <a:p>
            <a:r>
              <a:rPr lang="en-IN" sz="3600" dirty="0" err="1"/>
              <a:t>FastAPI</a:t>
            </a:r>
            <a:r>
              <a:rPr lang="en-IN" sz="3600" dirty="0"/>
              <a:t> </a:t>
            </a:r>
          </a:p>
          <a:p>
            <a:pPr marL="0" indent="0">
              <a:buNone/>
            </a:pPr>
            <a:endParaRPr lang="en-IN" sz="3600" dirty="0"/>
          </a:p>
          <a:p>
            <a:pPr marL="0" indent="0">
              <a:buNone/>
            </a:pPr>
            <a:r>
              <a:rPr lang="en-IN" sz="3600" b="1" dirty="0"/>
              <a:t>Machine Learning                  Database</a:t>
            </a:r>
          </a:p>
          <a:p>
            <a:r>
              <a:rPr lang="en-IN" sz="3600" dirty="0" err="1"/>
              <a:t>LightGBM</a:t>
            </a:r>
            <a:r>
              <a:rPr lang="en-IN" sz="3600" dirty="0"/>
              <a:t>                                  SQLite</a:t>
            </a:r>
          </a:p>
          <a:p>
            <a:r>
              <a:rPr lang="en-IN" sz="3600" dirty="0"/>
              <a:t>Scikit-learn </a:t>
            </a:r>
          </a:p>
          <a:p>
            <a:r>
              <a:rPr lang="en-IN" sz="3600" dirty="0"/>
              <a:t>Pandas </a:t>
            </a:r>
          </a:p>
          <a:p>
            <a:r>
              <a:rPr lang="en-IN" sz="3600" dirty="0"/>
              <a:t>NumPy </a:t>
            </a:r>
          </a:p>
          <a:p>
            <a:pPr marL="0" indent="0">
              <a:buNone/>
            </a:pPr>
            <a:endParaRPr lang="en-IN" sz="3600" dirty="0"/>
          </a:p>
          <a:p>
            <a:pPr marL="0" indent="0">
              <a:buNone/>
            </a:pPr>
            <a:endParaRPr lang="en-IN" sz="2800" dirty="0"/>
          </a:p>
          <a:p>
            <a:pPr marL="0" indent="0">
              <a:buNone/>
            </a:pPr>
            <a:endParaRPr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D7093-D221-1B98-4084-461ED244A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Model 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A8505-E749-68A5-65AC-61DEE01135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50457"/>
            <a:ext cx="8229600" cy="4525963"/>
          </a:xfrm>
        </p:spPr>
        <p:txBody>
          <a:bodyPr>
            <a:normAutofit/>
          </a:bodyPr>
          <a:lstStyle/>
          <a:p>
            <a:r>
              <a:rPr lang="en-US" sz="2700" b="1" dirty="0"/>
              <a:t>Metrics Used</a:t>
            </a:r>
          </a:p>
          <a:p>
            <a:r>
              <a:rPr lang="en-US" sz="2700" dirty="0"/>
              <a:t>ROC-AUC </a:t>
            </a:r>
          </a:p>
          <a:p>
            <a:r>
              <a:rPr lang="en-US" sz="2700" dirty="0"/>
              <a:t>Precision </a:t>
            </a:r>
          </a:p>
          <a:p>
            <a:r>
              <a:rPr lang="en-US" sz="2700" dirty="0"/>
              <a:t>Recall </a:t>
            </a:r>
          </a:p>
          <a:p>
            <a:r>
              <a:rPr lang="en-US" sz="2700" dirty="0"/>
              <a:t>F1 Score </a:t>
            </a:r>
          </a:p>
          <a:p>
            <a:pPr marL="0" indent="0">
              <a:buNone/>
            </a:pPr>
            <a:endParaRPr lang="en-US" sz="2700" dirty="0"/>
          </a:p>
          <a:p>
            <a:r>
              <a:rPr lang="en-US" sz="2700" b="1" dirty="0"/>
              <a:t>Why ROC-AUC?</a:t>
            </a:r>
          </a:p>
          <a:p>
            <a:r>
              <a:rPr lang="en-US" sz="2700" dirty="0"/>
              <a:t>Industry-standard metric for credit risk prediction.</a:t>
            </a:r>
          </a:p>
          <a:p>
            <a:endParaRPr lang="en-IN" sz="2700" dirty="0"/>
          </a:p>
        </p:txBody>
      </p:sp>
    </p:spTree>
    <p:extLst>
      <p:ext uri="{BB962C8B-B14F-4D97-AF65-F5344CB8AC3E}">
        <p14:creationId xmlns:p14="http://schemas.microsoft.com/office/powerpoint/2010/main" val="13023113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700" dirty="0"/>
              <a:t>ROC-AUC, Accuracy, Precision, Recall, F1-score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EE2053-0256-B777-EE1D-A4A4CD8D8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012" y="2308240"/>
            <a:ext cx="7595044" cy="421111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E7490-1F32-CD02-9B04-177936574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Explainability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C0F84B-49BC-03A4-7B63-5EA489F8AF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Model Interpretability</a:t>
            </a:r>
          </a:p>
          <a:p>
            <a:r>
              <a:rPr lang="en-US" dirty="0"/>
              <a:t>Implemented feature importance analysis.</a:t>
            </a:r>
          </a:p>
          <a:p>
            <a:r>
              <a:rPr lang="en-US" dirty="0"/>
              <a:t>Examples:</a:t>
            </a:r>
          </a:p>
          <a:p>
            <a:r>
              <a:rPr lang="en-US" dirty="0"/>
              <a:t>Income </a:t>
            </a:r>
          </a:p>
          <a:p>
            <a:r>
              <a:rPr lang="en-US" dirty="0"/>
              <a:t>Credit Amount </a:t>
            </a:r>
          </a:p>
          <a:p>
            <a:r>
              <a:rPr lang="en-US" dirty="0"/>
              <a:t>Employment Status </a:t>
            </a:r>
          </a:p>
          <a:p>
            <a:r>
              <a:rPr lang="en-US" dirty="0"/>
              <a:t>Age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Business Value</a:t>
            </a:r>
          </a:p>
          <a:p>
            <a:r>
              <a:rPr lang="en-US" dirty="0"/>
              <a:t>Helps analysts understand why a customer is classified as high or low risk.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75608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B00E4-6FA4-BB29-4459-D1C56016B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SHAP/Feature Importance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88B176-9791-C4A1-FBF3-39A8588F8A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961" y="1915429"/>
            <a:ext cx="8158839" cy="4509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1112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6D37B-4486-60F7-2FDC-C8FEB6A0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Natural Language Query Module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34E0CC-3A6A-3565-323E-5D5ED9A9C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700" b="1" dirty="0"/>
              <a:t>Objective</a:t>
            </a:r>
          </a:p>
          <a:p>
            <a:r>
              <a:rPr lang="en-US" sz="2700" dirty="0"/>
              <a:t>Allow users to ask questions in plain English.</a:t>
            </a:r>
          </a:p>
          <a:p>
            <a:r>
              <a:rPr lang="en-US" sz="2700" dirty="0"/>
              <a:t>Examples:</a:t>
            </a:r>
          </a:p>
          <a:p>
            <a:r>
              <a:rPr lang="en-US" sz="2700" dirty="0"/>
              <a:t>"Show average income by occupation" </a:t>
            </a:r>
          </a:p>
          <a:p>
            <a:r>
              <a:rPr lang="en-US" sz="2700" dirty="0"/>
              <a:t>"How many high-risk applicants are there?“</a:t>
            </a:r>
          </a:p>
          <a:p>
            <a:pPr marL="0" indent="0">
              <a:buNone/>
            </a:pPr>
            <a:r>
              <a:rPr lang="en-US" sz="2700" dirty="0"/>
              <a:t> </a:t>
            </a:r>
          </a:p>
          <a:p>
            <a:r>
              <a:rPr lang="en-US" sz="2700" b="1" dirty="0"/>
              <a:t>Approach</a:t>
            </a:r>
          </a:p>
          <a:p>
            <a:r>
              <a:rPr lang="en-US" sz="2700" dirty="0"/>
              <a:t>Natural Language → SQL Query → Database → Results</a:t>
            </a:r>
          </a:p>
          <a:p>
            <a:endParaRPr lang="en-IN" sz="2700" dirty="0"/>
          </a:p>
        </p:txBody>
      </p:sp>
    </p:spTree>
    <p:extLst>
      <p:ext uri="{BB962C8B-B14F-4D97-AF65-F5344CB8AC3E}">
        <p14:creationId xmlns:p14="http://schemas.microsoft.com/office/powerpoint/2010/main" val="38635891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NL-to-SQL Screenshot</a:t>
            </a:r>
            <a:r>
              <a:rPr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260A15-CB09-0F03-5F60-517A6C7C1E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103" y="1742174"/>
            <a:ext cx="8625907" cy="465830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Architecture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150802-092F-B25F-0DA0-E02ABF53B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536" y="1530416"/>
            <a:ext cx="7500928" cy="467879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7DFDE-D3FD-F7B4-C3BE-908AB6AEA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 Flow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901534-9A3D-0F3A-47BD-7670A023A8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078" y="3279153"/>
            <a:ext cx="8017844" cy="308168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066891-4A6E-4C37-BB4B-46225F965622}"/>
              </a:ext>
            </a:extLst>
          </p:cNvPr>
          <p:cNvSpPr txBox="1"/>
          <p:nvPr/>
        </p:nvSpPr>
        <p:spPr>
          <a:xfrm>
            <a:off x="548638" y="1432169"/>
            <a:ext cx="822959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700" dirty="0"/>
              <a:t>The platform integrates a </a:t>
            </a:r>
            <a:r>
              <a:rPr lang="en-US" sz="2700" dirty="0" err="1"/>
              <a:t>LightGBM</a:t>
            </a:r>
            <a:r>
              <a:rPr lang="en-US" sz="2700" dirty="0"/>
              <a:t>-based credit risk prediction engine, an NL-to-SQL query module, and an explainability layer through a </a:t>
            </a:r>
            <a:r>
              <a:rPr lang="en-US" sz="2700" dirty="0" err="1"/>
              <a:t>FastAPI</a:t>
            </a:r>
            <a:r>
              <a:rPr lang="en-US" sz="2700" dirty="0"/>
              <a:t> backend connected to a centralized credit risk database.</a:t>
            </a:r>
            <a:endParaRPr lang="en-IN" sz="2700" dirty="0"/>
          </a:p>
        </p:txBody>
      </p:sp>
    </p:spTree>
    <p:extLst>
      <p:ext uri="{BB962C8B-B14F-4D97-AF65-F5344CB8AC3E}">
        <p14:creationId xmlns:p14="http://schemas.microsoft.com/office/powerpoint/2010/main" val="15213569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5E377-597F-DDF7-33DB-ED679A06D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 Screenshots</a:t>
            </a:r>
            <a:endParaRPr lang="en-IN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FF27B20-EA88-E814-9A2F-49A53F73A9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0446" y="1734953"/>
            <a:ext cx="8363108" cy="4636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2879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C75702D-930A-88F1-1B85-24F925176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720" y="2002055"/>
            <a:ext cx="8601520" cy="447574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338D36B9-5537-59A3-5EA7-9B1211AC5F93}"/>
              </a:ext>
            </a:extLst>
          </p:cNvPr>
          <p:cNvSpPr txBox="1">
            <a:spLocks/>
          </p:cNvSpPr>
          <p:nvPr/>
        </p:nvSpPr>
        <p:spPr>
          <a:xfrm>
            <a:off x="376829" y="434908"/>
            <a:ext cx="8229600" cy="1143000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Risk Distribution</a:t>
            </a:r>
          </a:p>
        </p:txBody>
      </p:sp>
    </p:spTree>
    <p:extLst>
      <p:ext uri="{BB962C8B-B14F-4D97-AF65-F5344CB8AC3E}">
        <p14:creationId xmlns:p14="http://schemas.microsoft.com/office/powerpoint/2010/main" val="1636730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829" y="434908"/>
            <a:ext cx="8229600" cy="1143000"/>
          </a:xfrm>
        </p:spPr>
        <p:txBody>
          <a:bodyPr/>
          <a:lstStyle/>
          <a:p>
            <a:r>
              <a:rPr lang="en-US" dirty="0"/>
              <a:t>Risk Prediction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EC98F6-FDD3-53D7-19FC-4275D76943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395" y="1867301"/>
            <a:ext cx="8732636" cy="468991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0E4ACF8-8E7D-53DE-9881-9B4F5E5A87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59" y="1581912"/>
            <a:ext cx="8757082" cy="48280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342E1E9-BAE3-9104-7756-10F48D299B1C}"/>
              </a:ext>
            </a:extLst>
          </p:cNvPr>
          <p:cNvSpPr txBox="1"/>
          <p:nvPr/>
        </p:nvSpPr>
        <p:spPr>
          <a:xfrm>
            <a:off x="795528" y="633615"/>
            <a:ext cx="85587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600" dirty="0">
                <a:latin typeface="+mj-lt"/>
              </a:rPr>
              <a:t>Model Performance &amp; Risk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28396097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E40DC-6012-FB1C-F9BB-BCFB79601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4AA85D-9738-AE6B-5C24-60AF7E990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243" y="1417638"/>
            <a:ext cx="8464430" cy="4626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9935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B57ED-B3F8-C75B-1B4E-909305FB0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Heatmap</a:t>
            </a:r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0D99146-64B5-C05D-23F2-D52196D4D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5" y="1655065"/>
            <a:ext cx="8695728" cy="4809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4082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17FC4AA-709D-5AEA-FD0F-2AD15627B3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321" y="1472184"/>
            <a:ext cx="8675941" cy="5038344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77F39C86-93EC-3ED9-72D2-765C801020CE}"/>
              </a:ext>
            </a:extLst>
          </p:cNvPr>
          <p:cNvSpPr txBox="1">
            <a:spLocks/>
          </p:cNvSpPr>
          <p:nvPr/>
        </p:nvSpPr>
        <p:spPr>
          <a:xfrm>
            <a:off x="457200" y="329184"/>
            <a:ext cx="8229600" cy="1143000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/>
              <a:t>Key Risk Factors Influencing Loan Default</a:t>
            </a:r>
            <a:endParaRPr lang="en-IN" sz="3600" dirty="0"/>
          </a:p>
          <a:p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18162947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1AC573A-0C4C-E994-DD0F-A572BA583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111" y="1524442"/>
            <a:ext cx="8737778" cy="4830638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E802FB33-1F6F-BDC2-F747-34F137C32E4E}"/>
              </a:ext>
            </a:extLst>
          </p:cNvPr>
          <p:cNvSpPr txBox="1">
            <a:spLocks/>
          </p:cNvSpPr>
          <p:nvPr/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Query 2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78056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BDC125B-6D10-F753-8EF1-D3E6521605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70" y="1509722"/>
            <a:ext cx="8782860" cy="491001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82BA87E6-0F20-8701-B52C-CAA19FCFBF58}"/>
              </a:ext>
            </a:extLst>
          </p:cNvPr>
          <p:cNvSpPr txBox="1">
            <a:spLocks/>
          </p:cNvSpPr>
          <p:nvPr/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Query 3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631383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5EACDA4-4CA7-53F7-1A53-6385A3B704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76" y="1591057"/>
            <a:ext cx="8838448" cy="4864608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02EF6BE5-07AC-0956-8608-C0F68E3D301E}"/>
              </a:ext>
            </a:extLst>
          </p:cNvPr>
          <p:cNvSpPr txBox="1">
            <a:spLocks/>
          </p:cNvSpPr>
          <p:nvPr/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Query 4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264861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893A1-2EEA-2C46-447B-7A7E63842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 5</a:t>
            </a:r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86361E-2D9B-E141-F45F-18955FDCF6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608575"/>
            <a:ext cx="8719834" cy="4801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11092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dirty="0"/>
              <a:t>High ROC-AUC achieved, showing strong predictive performance on validation data.</a:t>
            </a:r>
            <a:endParaRPr lang="en-US" dirty="0"/>
          </a:p>
          <a:p>
            <a:pPr algn="just"/>
            <a:r>
              <a:rPr lang="en-US" dirty="0"/>
              <a:t>Model helps reduce credit risk and improves loan approval decision-making.</a:t>
            </a:r>
          </a:p>
          <a:p>
            <a:pPr algn="just"/>
            <a:r>
              <a:rPr lang="en-US" dirty="0"/>
              <a:t>It’s an end-to-end machine learning system to predict loan default risk using financial and behavioral data.</a:t>
            </a:r>
          </a:p>
          <a:p>
            <a:pPr algn="just"/>
            <a:endParaRPr lang="en-US" dirty="0"/>
          </a:p>
          <a:p>
            <a:endParaRPr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C127B-1447-D773-6FEE-3B483FDD9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Further Enhancements and Conclusion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E185A7-70EE-FF58-90D3-80640454FB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390" y="1494005"/>
            <a:ext cx="8369166" cy="5079732"/>
          </a:xfrm>
        </p:spPr>
        <p:txBody>
          <a:bodyPr>
            <a:noAutofit/>
          </a:bodyPr>
          <a:lstStyle/>
          <a:p>
            <a:r>
              <a:rPr lang="en-US" sz="2600" b="1" dirty="0"/>
              <a:t>Future Enhancements</a:t>
            </a:r>
          </a:p>
          <a:p>
            <a:r>
              <a:rPr lang="en-US" sz="2600" dirty="0"/>
              <a:t>Real-time scoring </a:t>
            </a:r>
          </a:p>
          <a:p>
            <a:r>
              <a:rPr lang="en-US" sz="2600" dirty="0"/>
              <a:t>Advanced explainability with SHAP</a:t>
            </a:r>
          </a:p>
          <a:p>
            <a:r>
              <a:rPr lang="en-US" sz="2600" dirty="0"/>
              <a:t>Role-based access control </a:t>
            </a:r>
          </a:p>
          <a:p>
            <a:r>
              <a:rPr lang="en-US" sz="2600" dirty="0"/>
              <a:t>Continuous model monitoring</a:t>
            </a:r>
          </a:p>
          <a:p>
            <a:endParaRPr lang="en-US" sz="2600" dirty="0"/>
          </a:p>
          <a:p>
            <a:r>
              <a:rPr lang="en-US" sz="2600" b="1" dirty="0"/>
              <a:t>Key Takeaways</a:t>
            </a:r>
          </a:p>
          <a:p>
            <a:r>
              <a:rPr lang="en-US" sz="2600" dirty="0"/>
              <a:t>Built an end-to-end AI credit risk platform </a:t>
            </a:r>
          </a:p>
          <a:p>
            <a:r>
              <a:rPr lang="en-US" sz="2600" dirty="0"/>
              <a:t>Combined machine learning and NLP capabilities </a:t>
            </a:r>
          </a:p>
          <a:p>
            <a:r>
              <a:rPr lang="en-US" sz="2600" dirty="0"/>
              <a:t>Delivered scalable and production-ready architecture</a:t>
            </a:r>
          </a:p>
          <a:p>
            <a:endParaRPr lang="en-IN" sz="2600" dirty="0"/>
          </a:p>
        </p:txBody>
      </p:sp>
    </p:spTree>
    <p:extLst>
      <p:ext uri="{BB962C8B-B14F-4D97-AF65-F5344CB8AC3E}">
        <p14:creationId xmlns:p14="http://schemas.microsoft.com/office/powerpoint/2010/main" val="12203404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590</Words>
  <Application>Microsoft Office PowerPoint</Application>
  <PresentationFormat>On-screen Show (4:3)</PresentationFormat>
  <Paragraphs>148</Paragraphs>
  <Slides>31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Calibri</vt:lpstr>
      <vt:lpstr>Wingdings</vt:lpstr>
      <vt:lpstr>Office Theme</vt:lpstr>
      <vt:lpstr>AI Credit Risk Prediction System</vt:lpstr>
      <vt:lpstr>Problem Statement</vt:lpstr>
      <vt:lpstr>Objective</vt:lpstr>
      <vt:lpstr>Solution Overview</vt:lpstr>
      <vt:lpstr>Dataset</vt:lpstr>
      <vt:lpstr>Data Preprocessing</vt:lpstr>
      <vt:lpstr>Feature Engineering</vt:lpstr>
      <vt:lpstr>Model Used</vt:lpstr>
      <vt:lpstr>Model Overview</vt:lpstr>
      <vt:lpstr>Tech Stack</vt:lpstr>
      <vt:lpstr>Model Evaluation</vt:lpstr>
      <vt:lpstr>Evaluation Metrics</vt:lpstr>
      <vt:lpstr>Explainability Layer</vt:lpstr>
      <vt:lpstr>SHAP/Feature Importance</vt:lpstr>
      <vt:lpstr>Natural Language Query Module</vt:lpstr>
      <vt:lpstr>NL-to-SQL Screenshot </vt:lpstr>
      <vt:lpstr>System Architecture</vt:lpstr>
      <vt:lpstr>Work Flow</vt:lpstr>
      <vt:lpstr>Output Screenshots</vt:lpstr>
      <vt:lpstr>PowerPoint Presentation</vt:lpstr>
      <vt:lpstr>Risk Prediction</vt:lpstr>
      <vt:lpstr>PowerPoint Presentation</vt:lpstr>
      <vt:lpstr>EDA</vt:lpstr>
      <vt:lpstr>Heatmap</vt:lpstr>
      <vt:lpstr>PowerPoint Presentation</vt:lpstr>
      <vt:lpstr>PowerPoint Presentation</vt:lpstr>
      <vt:lpstr>PowerPoint Presentation</vt:lpstr>
      <vt:lpstr>PowerPoint Presentation</vt:lpstr>
      <vt:lpstr>Query 5</vt:lpstr>
      <vt:lpstr>Results</vt:lpstr>
      <vt:lpstr>Further Enhancements and 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Tanushree Borase</cp:lastModifiedBy>
  <cp:revision>26</cp:revision>
  <dcterms:created xsi:type="dcterms:W3CDTF">2013-01-27T09:14:16Z</dcterms:created>
  <dcterms:modified xsi:type="dcterms:W3CDTF">2026-06-01T19:15:12Z</dcterms:modified>
  <cp:category/>
</cp:coreProperties>
</file>