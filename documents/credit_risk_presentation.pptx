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78" r:id="rId4"/>
    <p:sldId id="258" r:id="rId5"/>
    <p:sldId id="259" r:id="rId6"/>
    <p:sldId id="260" r:id="rId7"/>
    <p:sldId id="261" r:id="rId8"/>
    <p:sldId id="268" r:id="rId9"/>
    <p:sldId id="270" r:id="rId10"/>
    <p:sldId id="271" r:id="rId11"/>
    <p:sldId id="272" r:id="rId12"/>
    <p:sldId id="288" r:id="rId13"/>
    <p:sldId id="275" r:id="rId14"/>
    <p:sldId id="262" r:id="rId15"/>
    <p:sldId id="279" r:id="rId16"/>
    <p:sldId id="280" r:id="rId17"/>
    <p:sldId id="263" r:id="rId18"/>
    <p:sldId id="285" r:id="rId19"/>
    <p:sldId id="289" r:id="rId20"/>
    <p:sldId id="287" r:id="rId21"/>
    <p:sldId id="264" r:id="rId22"/>
    <p:sldId id="281" r:id="rId23"/>
    <p:sldId id="282" r:id="rId24"/>
    <p:sldId id="283" r:id="rId25"/>
    <p:sldId id="290" r:id="rId26"/>
    <p:sldId id="265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64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32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70C91B-E40E-4943-B1D8-56BB91AD3738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94F651-5754-48AE-9005-4F2DA538F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952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94F651-5754-48AE-9005-4F2DA538F4C8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0366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Credit Risk Prediction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LightGBM-based Loan Default Risk Model | ML + Data Science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000" dirty="0"/>
              <a:t>Financial institutions face challenges in accurately identifying high-risk loan applicants. </a:t>
            </a:r>
          </a:p>
          <a:p>
            <a:pPr algn="just"/>
            <a:r>
              <a:rPr lang="en-US" sz="3000" dirty="0"/>
              <a:t>Lack of reliable prediction models leads to loan defaults and financial losses. </a:t>
            </a:r>
          </a:p>
          <a:p>
            <a:pPr algn="just"/>
            <a:r>
              <a:rPr lang="en-US" sz="3000" dirty="0"/>
              <a:t>Traditional assessment methods often fail to utilize full applicant data effectively. </a:t>
            </a:r>
          </a:p>
          <a:p>
            <a:pPr algn="just"/>
            <a:r>
              <a:rPr lang="en-US" sz="3000" dirty="0"/>
              <a:t>There is a need for a data-driven solution to predict the probability of loan default. 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36765-E82A-C0A6-9C4E-2E900079F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96917A-036D-1B55-F196-DA460A25F8D0}"/>
              </a:ext>
            </a:extLst>
          </p:cNvPr>
          <p:cNvSpPr txBox="1"/>
          <p:nvPr/>
        </p:nvSpPr>
        <p:spPr>
          <a:xfrm>
            <a:off x="557784" y="1775936"/>
            <a:ext cx="812901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3000" dirty="0"/>
              <a:t>Develop a machine learning model that analyzes applicant financial and demographic data to predict loan default risk and support better lending decisions.</a:t>
            </a:r>
          </a:p>
        </p:txBody>
      </p:sp>
    </p:spTree>
    <p:extLst>
      <p:ext uri="{BB962C8B-B14F-4D97-AF65-F5344CB8AC3E}">
        <p14:creationId xmlns:p14="http://schemas.microsoft.com/office/powerpoint/2010/main" val="19124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Home Credit Default Risk Dataset</a:t>
            </a:r>
          </a:p>
          <a:p>
            <a:r>
              <a:t>- application_train.csv</a:t>
            </a:r>
          </a:p>
          <a:p>
            <a:r>
              <a:t>- application_test.csv</a:t>
            </a:r>
          </a:p>
          <a:p>
            <a:r>
              <a:t>Target: TARGET (0/1)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3232" y="1600200"/>
            <a:ext cx="8229600" cy="4525963"/>
          </a:xfrm>
        </p:spPr>
        <p:txBody>
          <a:bodyPr/>
          <a:lstStyle/>
          <a:p>
            <a:r>
              <a:rPr dirty="0"/>
              <a:t>Python</a:t>
            </a:r>
            <a:endParaRPr lang="en-US" dirty="0"/>
          </a:p>
          <a:p>
            <a:r>
              <a:rPr dirty="0"/>
              <a:t> Pandas,</a:t>
            </a:r>
            <a:endParaRPr lang="en-US" dirty="0"/>
          </a:p>
          <a:p>
            <a:r>
              <a:rPr dirty="0"/>
              <a:t> Scikit-learn</a:t>
            </a:r>
            <a:endParaRPr lang="en-US" dirty="0"/>
          </a:p>
          <a:p>
            <a:r>
              <a:rPr lang="en-IN"/>
              <a:t>Matplotlib</a:t>
            </a:r>
            <a:endParaRPr lang="en-US" dirty="0"/>
          </a:p>
          <a:p>
            <a:r>
              <a:rPr dirty="0" err="1"/>
              <a:t>LightGBM</a:t>
            </a:r>
            <a:endParaRPr lang="en-US" dirty="0"/>
          </a:p>
          <a:p>
            <a:r>
              <a:rPr dirty="0"/>
              <a:t>SQL</a:t>
            </a:r>
            <a:endParaRPr lang="en-US" dirty="0"/>
          </a:p>
          <a:p>
            <a:r>
              <a:rPr dirty="0"/>
              <a:t>Docker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Data Ingestion → Data Preprocessing → Feature Engineering → </a:t>
            </a:r>
            <a:r>
              <a:rPr lang="en-IN" dirty="0" err="1"/>
              <a:t>LightGBM</a:t>
            </a:r>
            <a:r>
              <a:rPr lang="en-IN" dirty="0"/>
              <a:t> Model → Prediction API</a:t>
            </a:r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150802-092F-B25F-0DA0-E02ABF53B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6230" y="3090671"/>
            <a:ext cx="5447066" cy="33976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r>
              <a:rPr sz="3900" b="1" dirty="0" err="1"/>
              <a:t>LightGBM</a:t>
            </a:r>
            <a:r>
              <a:rPr sz="3900" b="1" dirty="0"/>
              <a:t> Classifier (Gradient Boosting Decision Trees)</a:t>
            </a:r>
          </a:p>
          <a:p>
            <a:pPr algn="just"/>
            <a:r>
              <a:rPr sz="3900" dirty="0"/>
              <a:t>Optimized for tabular data</a:t>
            </a:r>
            <a:endParaRPr lang="en-US" sz="3900" dirty="0"/>
          </a:p>
          <a:p>
            <a:pPr algn="just"/>
            <a:r>
              <a:rPr lang="en-US" sz="3900" dirty="0"/>
              <a:t>For a PPT slide on the Model, you can keep it concise:</a:t>
            </a:r>
          </a:p>
          <a:p>
            <a:pPr algn="just"/>
            <a:r>
              <a:rPr lang="en-US" sz="3900" dirty="0" err="1"/>
              <a:t>LightGBM</a:t>
            </a:r>
            <a:r>
              <a:rPr lang="en-US" sz="3900" dirty="0"/>
              <a:t>-based Risk Prediction Model trained on historical portfolio and financial data to estimate risk scores.</a:t>
            </a:r>
          </a:p>
          <a:p>
            <a:pPr algn="just"/>
            <a:r>
              <a:rPr lang="en-US" sz="3900" dirty="0"/>
              <a:t>High Accuracy &amp; Fast Performance through gradient boosting, enabling efficient risk classification.</a:t>
            </a:r>
          </a:p>
          <a:p>
            <a:pPr algn="just"/>
            <a:r>
              <a:rPr lang="en-US" sz="3900" b="1" dirty="0"/>
              <a:t>SHAP Explainability Integration</a:t>
            </a:r>
            <a:r>
              <a:rPr lang="en-US" sz="3900" dirty="0"/>
              <a:t> provides feature importance and identifies key factors driving risk predictions.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78774"/>
            <a:ext cx="8229600" cy="1143000"/>
          </a:xfrm>
        </p:spPr>
        <p:txBody>
          <a:bodyPr/>
          <a:lstStyle/>
          <a:p>
            <a:r>
              <a:rPr dirty="0"/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8448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Reduces financial risk for lenders</a:t>
            </a:r>
          </a:p>
          <a:p>
            <a:pPr marL="0" indent="0">
              <a:buNone/>
            </a:pPr>
            <a:r>
              <a:rPr dirty="0"/>
              <a:t>• Improves loan approval decisions</a:t>
            </a:r>
          </a:p>
          <a:p>
            <a:pPr marL="0" indent="0">
              <a:buNone/>
            </a:pPr>
            <a:r>
              <a:rPr dirty="0"/>
              <a:t>• Identifies high-risk applicants early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EC98F6-FDD3-53D7-19FC-4275D7694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319" y="3227833"/>
            <a:ext cx="6199321" cy="33293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Missing value handling</a:t>
            </a:r>
          </a:p>
          <a:p>
            <a:pPr marL="0" indent="0">
              <a:buNone/>
            </a:pPr>
            <a:r>
              <a:rPr dirty="0"/>
              <a:t>• Encoding categorical variables</a:t>
            </a:r>
          </a:p>
          <a:p>
            <a:pPr marL="0" indent="0">
              <a:buNone/>
            </a:pPr>
            <a:r>
              <a:rPr dirty="0"/>
              <a:t>• Feature scaling</a:t>
            </a:r>
          </a:p>
          <a:p>
            <a:pPr marL="0" indent="0">
              <a:buNone/>
            </a:pPr>
            <a:r>
              <a:rPr dirty="0"/>
              <a:t>• Outlier treatment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Income to Credit Ratio</a:t>
            </a:r>
          </a:p>
          <a:p>
            <a:pPr marL="0" indent="0">
              <a:buNone/>
            </a:pPr>
            <a:r>
              <a:rPr dirty="0"/>
              <a:t>• Age and Employment features</a:t>
            </a:r>
          </a:p>
          <a:p>
            <a:pPr marL="0" indent="0">
              <a:buNone/>
            </a:pPr>
            <a:r>
              <a:rPr dirty="0"/>
              <a:t>• Aggregated financial behavior features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000" dirty="0" err="1"/>
              <a:t>LightGBM</a:t>
            </a:r>
            <a:r>
              <a:rPr sz="3000" dirty="0"/>
              <a:t> Classifier</a:t>
            </a:r>
          </a:p>
          <a:p>
            <a:pPr marL="0" indent="0">
              <a:buNone/>
            </a:pPr>
            <a:r>
              <a:rPr sz="3000" dirty="0"/>
              <a:t>• Gradient Boosting</a:t>
            </a:r>
          </a:p>
          <a:p>
            <a:pPr marL="0" indent="0">
              <a:buNone/>
            </a:pPr>
            <a:r>
              <a:rPr sz="3000" dirty="0"/>
              <a:t>• Handles imbalance well</a:t>
            </a:r>
          </a:p>
          <a:p>
            <a:pPr marL="0" indent="0">
              <a:buNone/>
            </a:pPr>
            <a:r>
              <a:rPr sz="3000" dirty="0"/>
              <a:t>• Optimized for tabular data</a:t>
            </a:r>
            <a:endParaRPr lang="en-US" sz="3000" dirty="0"/>
          </a:p>
          <a:p>
            <a:endParaRPr lang="en-US" sz="2800" dirty="0"/>
          </a:p>
          <a:p>
            <a:pPr marL="0" indent="0">
              <a:buNone/>
            </a:pPr>
            <a:endParaRPr sz="3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5DD2E-E158-73AA-E9A6-05D9E238E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Overview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50F83B-5982-9D29-EE47-214F244B2346}"/>
              </a:ext>
            </a:extLst>
          </p:cNvPr>
          <p:cNvSpPr txBox="1"/>
          <p:nvPr/>
        </p:nvSpPr>
        <p:spPr>
          <a:xfrm>
            <a:off x="566928" y="1527366"/>
            <a:ext cx="694029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Risk Prediction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 err="1"/>
              <a:t>LightGBM</a:t>
            </a:r>
            <a:r>
              <a:rPr lang="en-IN" sz="2400" dirty="0"/>
              <a:t>-based machine learning model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Predicts portfolio risk scores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Trained on historical financial data </a:t>
            </a:r>
          </a:p>
          <a:p>
            <a:endParaRPr lang="en-IN" sz="2400" dirty="0"/>
          </a:p>
          <a:p>
            <a:pPr>
              <a:buNone/>
            </a:pPr>
            <a:r>
              <a:rPr lang="en-IN" sz="2400" b="1" dirty="0"/>
              <a:t>Explainability Layer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SHAP-based feature importance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Identifies key risk drivers </a:t>
            </a:r>
          </a:p>
          <a:p>
            <a:endParaRPr lang="en-IN" sz="2400" dirty="0"/>
          </a:p>
          <a:p>
            <a:pPr>
              <a:buNone/>
            </a:pPr>
            <a:r>
              <a:rPr lang="en-IN" sz="2400" b="1" dirty="0"/>
              <a:t>Data Intelligence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Natural Language → SQL queries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Retrieves portfolio insights from SQLite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Enables conversational analytics</a:t>
            </a:r>
          </a:p>
        </p:txBody>
      </p:sp>
    </p:spTree>
    <p:extLst>
      <p:ext uri="{BB962C8B-B14F-4D97-AF65-F5344CB8AC3E}">
        <p14:creationId xmlns:p14="http://schemas.microsoft.com/office/powerpoint/2010/main" val="2775911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dirty="0"/>
              <a:t>Feature importance analysis using </a:t>
            </a:r>
            <a:r>
              <a:rPr dirty="0" err="1"/>
              <a:t>LightGBM</a:t>
            </a:r>
            <a:r>
              <a:rPr dirty="0"/>
              <a:t> </a:t>
            </a: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b="1" dirty="0"/>
              <a:t>Feature Importance &amp; Explainability:</a:t>
            </a:r>
          </a:p>
          <a:p>
            <a:pPr algn="just"/>
            <a:r>
              <a:rPr lang="en-US" dirty="0"/>
              <a:t>Identified the most influential features affecting loan default prediction. </a:t>
            </a:r>
          </a:p>
          <a:p>
            <a:pPr algn="just"/>
            <a:r>
              <a:rPr lang="en-US" dirty="0"/>
              <a:t>Used </a:t>
            </a:r>
            <a:r>
              <a:rPr lang="en-US" dirty="0" err="1"/>
              <a:t>LightGBM</a:t>
            </a:r>
            <a:r>
              <a:rPr lang="en-US" dirty="0"/>
              <a:t> Feature Importance to rank variables based on predictive power. </a:t>
            </a:r>
          </a:p>
          <a:p>
            <a:pPr algn="just"/>
            <a:r>
              <a:rPr lang="en-US" dirty="0"/>
              <a:t>Applied SHAP (</a:t>
            </a:r>
            <a:r>
              <a:rPr lang="en-US" dirty="0" err="1"/>
              <a:t>SHapley</a:t>
            </a:r>
            <a:r>
              <a:rPr lang="en-US" dirty="0"/>
              <a:t> Additive </a:t>
            </a:r>
            <a:r>
              <a:rPr lang="en-US" dirty="0" err="1"/>
              <a:t>exPlanations</a:t>
            </a:r>
            <a:r>
              <a:rPr lang="en-US" dirty="0"/>
              <a:t>) for model interpretability. </a:t>
            </a:r>
          </a:p>
          <a:p>
            <a:pPr algn="just"/>
            <a:r>
              <a:rPr lang="en-US" dirty="0"/>
              <a:t>Visualized how individual features increase or decrease default risk. </a:t>
            </a:r>
          </a:p>
          <a:p>
            <a:pPr algn="just"/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ROC-AUC, Accuracy, Precision, Recall, F1-score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EE2053-0256-B777-EE1D-A4A4CD8D8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012" y="2308240"/>
            <a:ext cx="7595044" cy="421111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C75702D-930A-88F1-1B85-24F925176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822" y="3429000"/>
            <a:ext cx="6146404" cy="31982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CDEB7D4-91F8-7CD8-37B2-B4A0C404A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2822" y="230756"/>
            <a:ext cx="6146404" cy="3047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730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0E4ACF8-8E7D-53DE-9881-9B4F5E5A8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59" y="1581912"/>
            <a:ext cx="8757082" cy="48280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342E1E9-BAE3-9104-7756-10F48D299B1C}"/>
              </a:ext>
            </a:extLst>
          </p:cNvPr>
          <p:cNvSpPr txBox="1"/>
          <p:nvPr/>
        </p:nvSpPr>
        <p:spPr>
          <a:xfrm>
            <a:off x="795528" y="633615"/>
            <a:ext cx="85587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+mj-lt"/>
              </a:rPr>
              <a:t>Model Performance &amp; Risk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8396097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Output Screenshot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model training output screenshot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5411E0-B8F9-B0D6-A254-8C37F70FC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222" y="2390818"/>
            <a:ext cx="7646977" cy="422617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E40DC-6012-FB1C-F9BB-BCFB79601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4AA85D-9738-AE6B-5C24-60AF7E990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243" y="1417638"/>
            <a:ext cx="8464430" cy="4626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9935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B57ED-B3F8-C75B-1B4E-909305FB0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Heatmap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D99146-64B5-C05D-23F2-D52196D4D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5" y="1655065"/>
            <a:ext cx="8695728" cy="4809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4082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17FC4AA-709D-5AEA-FD0F-2AD15627B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21" y="1472184"/>
            <a:ext cx="8675941" cy="503834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77F39C86-93EC-3ED9-72D2-765C801020CE}"/>
              </a:ext>
            </a:extLst>
          </p:cNvPr>
          <p:cNvSpPr txBox="1">
            <a:spLocks/>
          </p:cNvSpPr>
          <p:nvPr/>
        </p:nvSpPr>
        <p:spPr>
          <a:xfrm>
            <a:off x="457200" y="329184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Key Risk Factors Influencing Loan Default</a:t>
            </a:r>
            <a:endParaRPr lang="en-IN" sz="3600" dirty="0"/>
          </a:p>
          <a:p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8162947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 Screenshot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prediction results screenshot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260A15-CB09-0F03-5F60-517A6C7C1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72388"/>
            <a:ext cx="8406325" cy="414606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1AC573A-0C4C-E994-DD0F-A572BA583A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11" y="1524442"/>
            <a:ext cx="8737778" cy="483063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802FB33-1F6F-BDC2-F747-34F137C32E4E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Query 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8056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BDC125B-6D10-F753-8EF1-D3E6521605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70" y="1947672"/>
            <a:ext cx="8782860" cy="437997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2BA87E6-0F20-8701-B52C-CAA19FCFBF58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Query 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31383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5EACDA4-4CA7-53F7-1A53-6385A3B70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76" y="1591057"/>
            <a:ext cx="8838448" cy="486460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2EF6BE5-07AC-0956-8608-C0F68E3D301E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Query 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64861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893A1-2EEA-2C46-447B-7A7E63842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5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86361E-2D9B-E141-F45F-18955FDCF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608575"/>
            <a:ext cx="8719834" cy="4801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1092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dirty="0"/>
              <a:t>High ROC-AUC achieved, showing strong predictive performance on validation data.</a:t>
            </a:r>
            <a:endParaRPr lang="en-US" dirty="0"/>
          </a:p>
          <a:p>
            <a:pPr algn="just"/>
            <a:r>
              <a:rPr lang="en-US" dirty="0"/>
              <a:t>Model helps reduce credit risk and improves loan approval decision-making.</a:t>
            </a:r>
          </a:p>
          <a:p>
            <a:pPr algn="just"/>
            <a:r>
              <a:rPr lang="en-US" dirty="0"/>
              <a:t>It’s an end-to-end machine learning system to predict loan default risk using financial and behavioral data.</a:t>
            </a:r>
          </a:p>
          <a:p>
            <a:pPr algn="just"/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472</Words>
  <Application>Microsoft Office PowerPoint</Application>
  <PresentationFormat>On-screen Show (4:3)</PresentationFormat>
  <Paragraphs>90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AI Credit Risk Prediction System</vt:lpstr>
      <vt:lpstr>Problem Statement</vt:lpstr>
      <vt:lpstr>Objective</vt:lpstr>
      <vt:lpstr>Dataset</vt:lpstr>
      <vt:lpstr>Tech Stack</vt:lpstr>
      <vt:lpstr>Workflow</vt:lpstr>
      <vt:lpstr>Model Used</vt:lpstr>
      <vt:lpstr>Business Impact</vt:lpstr>
      <vt:lpstr>Data Preprocessing</vt:lpstr>
      <vt:lpstr>Feature Engineering</vt:lpstr>
      <vt:lpstr>Model Training</vt:lpstr>
      <vt:lpstr>Model Overview</vt:lpstr>
      <vt:lpstr>Model Interpretation</vt:lpstr>
      <vt:lpstr>Evaluation Metrics</vt:lpstr>
      <vt:lpstr>PowerPoint Presentation</vt:lpstr>
      <vt:lpstr>PowerPoint Presentation</vt:lpstr>
      <vt:lpstr>Output Screenshot 1</vt:lpstr>
      <vt:lpstr>EDA</vt:lpstr>
      <vt:lpstr>Heatmap</vt:lpstr>
      <vt:lpstr>PowerPoint Presentation</vt:lpstr>
      <vt:lpstr>Output Screenshot 2</vt:lpstr>
      <vt:lpstr>PowerPoint Presentation</vt:lpstr>
      <vt:lpstr>PowerPoint Presentation</vt:lpstr>
      <vt:lpstr>PowerPoint Presentation</vt:lpstr>
      <vt:lpstr>Query 5</vt:lpstr>
      <vt:lpstr>Results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Tanushree Borase</cp:lastModifiedBy>
  <cp:revision>12</cp:revision>
  <dcterms:created xsi:type="dcterms:W3CDTF">2013-01-27T09:14:16Z</dcterms:created>
  <dcterms:modified xsi:type="dcterms:W3CDTF">2026-06-01T13:33:04Z</dcterms:modified>
  <cp:category/>
</cp:coreProperties>
</file>